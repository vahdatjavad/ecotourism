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7B2B7-BDB2-EF43-B8B6-2CA4F245FC86}" v="29" dt="2026-08-02T12:57:47.9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185"/>
    <p:restoredTop sz="94663"/>
  </p:normalViewPr>
  <p:slideViewPr>
    <p:cSldViewPr snapToGrid="0">
      <p:cViewPr>
        <p:scale>
          <a:sx n="78" d="100"/>
          <a:sy n="78" d="100"/>
        </p:scale>
        <p:origin x="2840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4190-47B3-9DB0-A798-5E762DAB2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31C8D-C41B-19C0-7F5F-C32EE0EE2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46484-A165-CF66-066E-9593D09C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0A8A-6B9E-6C4B-A184-45A946AA2FD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A0F53-17DB-12E7-C544-F614C5F30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9D148-4A52-F279-CA1D-14803E122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48F7C-A6BB-FD4F-B1ED-34B3EC2B5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8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278F-1C46-F392-0563-28ED5E47B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543D4-F827-2259-4F62-3E78040DD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86F6A-6850-FBDF-5D62-9E9379D7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0A8A-6B9E-6C4B-A184-45A946AA2FD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EC1EB-DEC4-2602-821A-45D70E90E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4438A-2D94-9CAD-7D64-DD7231CC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48F7C-A6BB-FD4F-B1ED-34B3EC2B5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5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9A9F-5231-357C-51E1-017BD6AD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8E67A-1BB9-D6A8-43D6-440618F46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28FDF-0416-6DD5-0B32-7CA749C2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0A8A-6B9E-6C4B-A184-45A946AA2FD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BA6BB-E182-BBE5-1F16-1DB5EB85C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344EE-9236-8044-5F78-A91065A6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48F7C-A6BB-FD4F-B1ED-34B3EC2B5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7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50CA-17E2-C1C8-9B16-6A5A5B41F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5DC6D-E851-8A95-E395-7105015E2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B8C34-F563-3BA6-9F95-FB36BE6F7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B3E76-839E-A1FB-06B9-786F71EB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0A8A-6B9E-6C4B-A184-45A946AA2FD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93768-7CE2-CF60-AA1D-DEE0248E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50757-BB9F-F80E-20B7-426C9596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48F7C-A6BB-FD4F-B1ED-34B3EC2B5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56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919D-2A36-D47C-FF4D-019FDBED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8D318-A5B8-CA1F-C517-986604D52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4E6A4-BFFF-2051-C791-49A0D9418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5ADC22-F1A3-C072-E80A-60AD79AD5E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0C9666-65DB-D782-09CC-8006E3C32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062B02-133B-7DA0-24E4-1D1051A3A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0A8A-6B9E-6C4B-A184-45A946AA2FD1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24B3B2-1245-05AF-1858-D2CD582D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ADD238-165F-0D0D-1C94-0CA6F061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48F7C-A6BB-FD4F-B1ED-34B3EC2B5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5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40A3-6BC5-90B1-4C18-75D327D3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EC521-DE5E-3015-2E4F-3CF96E26B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0A8A-6B9E-6C4B-A184-45A946AA2FD1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76921-38EB-87F1-13C2-F1A511C88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ECF11-5F49-3943-E6AC-23483BB3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48F7C-A6BB-FD4F-B1ED-34B3EC2B5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75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AAA877-B3FC-0279-E82A-6E4D940CB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0A8A-6B9E-6C4B-A184-45A946AA2FD1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E0FBCD-6090-F487-C351-9BB00013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A1EB8-9A1D-A09C-4C0A-50402FB7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48F7C-A6BB-FD4F-B1ED-34B3EC2B5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9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FB2B4-44A8-0EC1-D6C5-09C6B1DA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9F36F-0F92-8317-603B-D7F8C244A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64B67-8E56-7D92-9E37-6CB549587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96C33-B6D3-488C-9B97-6E322EC9C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0A8A-6B9E-6C4B-A184-45A946AA2FD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DE944-AF3E-40C8-0889-DFA5CBFF0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572AF-0723-B9EE-7A79-693B7F1D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48F7C-A6BB-FD4F-B1ED-34B3EC2B5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4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D77CD-AD16-BF65-7486-35DFAC3A8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9AD78C-4588-B41E-8C3E-5C315697A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C2212-6B7D-3995-95FF-1DC87F661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97DBC-DE87-CEEA-591D-C9B8D598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0A8A-6B9E-6C4B-A184-45A946AA2FD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E820C-6E7D-2064-05BE-2CE7D1D68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580AB-1AD7-703E-C08B-A2DCA3E4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48F7C-A6BB-FD4F-B1ED-34B3EC2B5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5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B988B-CE50-73DB-9CF2-9F152E759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BAE7C5-D7F8-4477-48FB-9AC43F5C3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14630-4985-091F-BC0E-B214CEB1C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0A8A-6B9E-6C4B-A184-45A946AA2FD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5EFD3-A192-42FF-E023-74186909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A7A7E-BDCB-5A37-8E8A-138C24745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48F7C-A6BB-FD4F-B1ED-34B3EC2B5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5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FC41A7-4295-F9D3-ADB8-E00FAFFAB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972F0-2351-1895-FF1C-D5DD2AEF1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E739A-F91D-7136-0CAA-28B87E5B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0A8A-6B9E-6C4B-A184-45A946AA2FD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0BAC3-E257-BAB0-2D57-B786DAA2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39F78-E100-FBB1-6900-20D0C8EF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48F7C-A6BB-FD4F-B1ED-34B3EC2B5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20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911963-301A-B5CA-479B-7C0548E1F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E9320-EB71-BAB4-C89B-88B17F3F7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7E63E-DEB6-50D3-6DD3-B5E8527F9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250A8A-6B9E-6C4B-A184-45A946AA2FD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613AA-6533-6F59-08A7-F3989CEEC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56DC7-5EB6-3CC7-5D0F-18B295149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48F7C-A6BB-FD4F-B1ED-34B3EC2B5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4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8DA021-86AE-82E3-37C8-11D7FECB4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313129"/>
              </p:ext>
            </p:extLst>
          </p:nvPr>
        </p:nvGraphicFramePr>
        <p:xfrm>
          <a:off x="323969" y="219334"/>
          <a:ext cx="1311690" cy="5640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690">
                  <a:extLst>
                    <a:ext uri="{9D8B030D-6E8A-4147-A177-3AD203B41FA5}">
                      <a16:colId xmlns:a16="http://schemas.microsoft.com/office/drawing/2014/main" val="2202145830"/>
                    </a:ext>
                  </a:extLst>
                </a:gridCol>
              </a:tblGrid>
              <a:tr h="81863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| glowworms | gouldian_finch |  manta_rays | orchids 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821471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obs_lat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031439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obs_lon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269869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986940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677563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842809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319567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232928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800183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weekday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42904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dayofyear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063903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sci_name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262446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record_type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294833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obs_state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694186"/>
                  </a:ext>
                </a:extLst>
              </a:tr>
              <a:tr h="3441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ws_id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64370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3B131B-251C-AE0B-4722-461506044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162443"/>
              </p:ext>
            </p:extLst>
          </p:nvPr>
        </p:nvGraphicFramePr>
        <p:xfrm>
          <a:off x="3140457" y="4153799"/>
          <a:ext cx="1276099" cy="2315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099">
                  <a:extLst>
                    <a:ext uri="{9D8B030D-6E8A-4147-A177-3AD203B41FA5}">
                      <a16:colId xmlns:a16="http://schemas.microsoft.com/office/drawing/2014/main" val="1144353513"/>
                    </a:ext>
                  </a:extLst>
                </a:gridCol>
              </a:tblGrid>
              <a:tr h="294508">
                <a:tc>
                  <a:txBody>
                    <a:bodyPr/>
                    <a:lstStyle/>
                    <a:p>
                      <a:r>
                        <a:rPr lang="en-US" sz="1200" dirty="0" err="1"/>
                        <a:t>tourism_region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950792"/>
                  </a:ext>
                </a:extLst>
              </a:tr>
              <a:tr h="294508">
                <a:tc>
                  <a:txBody>
                    <a:bodyPr/>
                    <a:lstStyle/>
                    <a:p>
                      <a:r>
                        <a:rPr lang="en-US" sz="1200" dirty="0"/>
                        <a:t>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513893"/>
                  </a:ext>
                </a:extLst>
              </a:tr>
              <a:tr h="294508">
                <a:tc>
                  <a:txBody>
                    <a:bodyPr/>
                    <a:lstStyle/>
                    <a:p>
                      <a:r>
                        <a:rPr lang="en-US" sz="1200" dirty="0"/>
                        <a:t>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907638"/>
                  </a:ext>
                </a:extLst>
              </a:tr>
              <a:tr h="294508">
                <a:tc>
                  <a:txBody>
                    <a:bodyPr/>
                    <a:lstStyle/>
                    <a:p>
                      <a:r>
                        <a:rPr lang="en-US" sz="1200" dirty="0"/>
                        <a:t>sa2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695376"/>
                  </a:ext>
                </a:extLst>
              </a:tr>
              <a:tr h="294508">
                <a:tc>
                  <a:txBody>
                    <a:bodyPr/>
                    <a:lstStyle/>
                    <a:p>
                      <a:r>
                        <a:rPr lang="en-US" sz="1200" dirty="0" err="1"/>
                        <a:t>lon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999611"/>
                  </a:ext>
                </a:extLst>
              </a:tr>
              <a:tr h="271693">
                <a:tc>
                  <a:txBody>
                    <a:bodyPr/>
                    <a:lstStyle/>
                    <a:p>
                      <a:r>
                        <a:rPr lang="en-US" sz="1200" dirty="0" err="1"/>
                        <a:t>lat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735819"/>
                  </a:ext>
                </a:extLst>
              </a:tr>
              <a:tr h="271693">
                <a:tc>
                  <a:txBody>
                    <a:bodyPr/>
                    <a:lstStyle/>
                    <a:p>
                      <a:r>
                        <a:rPr lang="en-US" sz="1200" dirty="0"/>
                        <a:t>ws_id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588769"/>
                  </a:ext>
                </a:extLst>
              </a:tr>
              <a:tr h="294508">
                <a:tc>
                  <a:txBody>
                    <a:bodyPr/>
                    <a:lstStyle/>
                    <a:p>
                      <a:r>
                        <a:rPr lang="en-US" sz="1200" dirty="0"/>
                        <a:t>sa2_code_tra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97126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35C4D1-732C-A515-C147-E6112A394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125613"/>
              </p:ext>
            </p:extLst>
          </p:nvPr>
        </p:nvGraphicFramePr>
        <p:xfrm>
          <a:off x="9381007" y="455728"/>
          <a:ext cx="1035301" cy="6125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01">
                  <a:extLst>
                    <a:ext uri="{9D8B030D-6E8A-4147-A177-3AD203B41FA5}">
                      <a16:colId xmlns:a16="http://schemas.microsoft.com/office/drawing/2014/main" val="3698933998"/>
                    </a:ext>
                  </a:extLst>
                </a:gridCol>
              </a:tblGrid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weather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324675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ws_id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273694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stn_lat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32923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 err="1"/>
                        <a:t>stn_lon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210440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674642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662644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243395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538562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weekday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509965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dayofyear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408336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temp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781897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827302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322318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 err="1"/>
                        <a:t>dewp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129543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rh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315621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 err="1"/>
                        <a:t>prcp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184609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/>
                        <a:t>rainy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344777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 err="1"/>
                        <a:t>wind_speed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15728"/>
                  </a:ext>
                </a:extLst>
              </a:tr>
              <a:tr h="322398">
                <a:tc>
                  <a:txBody>
                    <a:bodyPr/>
                    <a:lstStyle/>
                    <a:p>
                      <a:r>
                        <a:rPr lang="en-US" sz="1200" dirty="0" err="1"/>
                        <a:t>max_speed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7710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8D4828D-65AA-BC97-0EF3-8AFB1AC6D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442688"/>
              </p:ext>
            </p:extLst>
          </p:nvPr>
        </p:nvGraphicFramePr>
        <p:xfrm>
          <a:off x="7339249" y="504364"/>
          <a:ext cx="1387191" cy="255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7191">
                  <a:extLst>
                    <a:ext uri="{9D8B030D-6E8A-4147-A177-3AD203B41FA5}">
                      <a16:colId xmlns:a16="http://schemas.microsoft.com/office/drawing/2014/main" val="1308693758"/>
                    </a:ext>
                  </a:extLst>
                </a:gridCol>
              </a:tblGrid>
              <a:tr h="318785">
                <a:tc>
                  <a:txBody>
                    <a:bodyPr/>
                    <a:lstStyle/>
                    <a:p>
                      <a:r>
                        <a:rPr lang="en-US" sz="1200" dirty="0" err="1"/>
                        <a:t>weather_stations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173793"/>
                  </a:ext>
                </a:extLst>
              </a:tr>
              <a:tr h="318785">
                <a:tc>
                  <a:txBody>
                    <a:bodyPr/>
                    <a:lstStyle/>
                    <a:p>
                      <a:r>
                        <a:rPr lang="en-US" sz="1200" dirty="0"/>
                        <a:t>ws_id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201836"/>
                  </a:ext>
                </a:extLst>
              </a:tr>
              <a:tr h="31878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stname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71601"/>
                  </a:ext>
                </a:extLst>
              </a:tr>
              <a:tr h="31878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stn_lat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79740"/>
                  </a:ext>
                </a:extLst>
              </a:tr>
              <a:tr h="31878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stn_lon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821658"/>
                  </a:ext>
                </a:extLst>
              </a:tr>
              <a:tr h="318785">
                <a:tc>
                  <a:txBody>
                    <a:bodyPr/>
                    <a:lstStyle/>
                    <a:p>
                      <a:r>
                        <a:rPr lang="en-US" sz="1200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781617"/>
                  </a:ext>
                </a:extLst>
              </a:tr>
              <a:tr h="31878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stn_city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353160"/>
                  </a:ext>
                </a:extLst>
              </a:tr>
              <a:tr h="318785">
                <a:tc>
                  <a:txBody>
                    <a:bodyPr/>
                    <a:lstStyle/>
                    <a:p>
                      <a:r>
                        <a:rPr lang="en-US" sz="1200" dirty="0" err="1"/>
                        <a:t>stn_state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3617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6817F0D-AB4B-B44C-B96A-6ED125886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86944"/>
              </p:ext>
            </p:extLst>
          </p:nvPr>
        </p:nvGraphicFramePr>
        <p:xfrm>
          <a:off x="5863479" y="3039787"/>
          <a:ext cx="1035302" cy="1137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02">
                  <a:extLst>
                    <a:ext uri="{9D8B030D-6E8A-4147-A177-3AD203B41FA5}">
                      <a16:colId xmlns:a16="http://schemas.microsoft.com/office/drawing/2014/main" val="111912471"/>
                    </a:ext>
                  </a:extLst>
                </a:gridCol>
              </a:tblGrid>
              <a:tr h="379132">
                <a:tc>
                  <a:txBody>
                    <a:bodyPr/>
                    <a:lstStyle/>
                    <a:p>
                      <a:r>
                        <a:rPr lang="en-US" sz="1200" dirty="0" err="1"/>
                        <a:t>top_station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710672"/>
                  </a:ext>
                </a:extLst>
              </a:tr>
              <a:tr h="379132">
                <a:tc>
                  <a:txBody>
                    <a:bodyPr/>
                    <a:lstStyle/>
                    <a:p>
                      <a:r>
                        <a:rPr lang="en-US" sz="1200" dirty="0"/>
                        <a:t>organism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670165"/>
                  </a:ext>
                </a:extLst>
              </a:tr>
              <a:tr h="379132">
                <a:tc>
                  <a:txBody>
                    <a:bodyPr/>
                    <a:lstStyle/>
                    <a:p>
                      <a:r>
                        <a:rPr lang="en-US" sz="1200" dirty="0"/>
                        <a:t>ws_id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57995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D2E29E9-CB58-4EB5-1653-95DF7703D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88050"/>
              </p:ext>
            </p:extLst>
          </p:nvPr>
        </p:nvGraphicFramePr>
        <p:xfrm>
          <a:off x="6403152" y="4910447"/>
          <a:ext cx="1089074" cy="155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074">
                  <a:extLst>
                    <a:ext uri="{9D8B030D-6E8A-4147-A177-3AD203B41FA5}">
                      <a16:colId xmlns:a16="http://schemas.microsoft.com/office/drawing/2014/main" val="783189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oz_sa2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880062"/>
                  </a:ext>
                </a:extLst>
              </a:tr>
              <a:tr h="321180">
                <a:tc>
                  <a:txBody>
                    <a:bodyPr/>
                    <a:lstStyle/>
                    <a:p>
                      <a:r>
                        <a:rPr lang="en-US" sz="1200" dirty="0"/>
                        <a:t>sa2_code_tra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248897"/>
                  </a:ext>
                </a:extLst>
              </a:tr>
              <a:tr h="321180">
                <a:tc>
                  <a:txBody>
                    <a:bodyPr/>
                    <a:lstStyle/>
                    <a:p>
                      <a:r>
                        <a:rPr lang="en-US" sz="1200" dirty="0" err="1"/>
                        <a:t>lat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3486"/>
                  </a:ext>
                </a:extLst>
              </a:tr>
              <a:tr h="321180">
                <a:tc>
                  <a:txBody>
                    <a:bodyPr/>
                    <a:lstStyle/>
                    <a:p>
                      <a:r>
                        <a:rPr lang="en-US" sz="1200" dirty="0" err="1"/>
                        <a:t>lon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380776"/>
                  </a:ext>
                </a:extLst>
              </a:tr>
              <a:tr h="321180">
                <a:tc>
                  <a:txBody>
                    <a:bodyPr/>
                    <a:lstStyle/>
                    <a:p>
                      <a:r>
                        <a:rPr lang="en-US" sz="1200" dirty="0"/>
                        <a:t>geometry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98648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D9F6C0B-EF03-BF24-198B-96C10AAC8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84953"/>
              </p:ext>
            </p:extLst>
          </p:nvPr>
        </p:nvGraphicFramePr>
        <p:xfrm>
          <a:off x="4198185" y="276710"/>
          <a:ext cx="1841429" cy="1250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429">
                  <a:extLst>
                    <a:ext uri="{9D8B030D-6E8A-4147-A177-3AD203B41FA5}">
                      <a16:colId xmlns:a16="http://schemas.microsoft.com/office/drawing/2014/main" val="783189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tourism_reason_name</a:t>
                      </a:r>
                      <a:r>
                        <a:rPr lang="en-US" sz="1200" dirty="0"/>
                        <a:t> | </a:t>
                      </a:r>
                      <a:r>
                        <a:rPr lang="en-US" sz="1200" dirty="0" err="1"/>
                        <a:t>tourism_activity_name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880062"/>
                  </a:ext>
                </a:extLst>
              </a:tr>
              <a:tr h="305257">
                <a:tc>
                  <a:txBody>
                    <a:bodyPr/>
                    <a:lstStyle/>
                    <a:p>
                      <a:r>
                        <a:rPr lang="en-US" sz="1200" dirty="0" err="1"/>
                        <a:t>stop_reason</a:t>
                      </a:r>
                      <a:r>
                        <a:rPr lang="en-US" sz="1200" dirty="0"/>
                        <a:t>/activity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248897"/>
                  </a:ext>
                </a:extLst>
              </a:tr>
              <a:tr h="305257"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348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2036090-D892-B019-2D12-2846CBE78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933204"/>
              </p:ext>
            </p:extLst>
          </p:nvPr>
        </p:nvGraphicFramePr>
        <p:xfrm>
          <a:off x="2156427" y="219334"/>
          <a:ext cx="1520990" cy="2350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990">
                  <a:extLst>
                    <a:ext uri="{9D8B030D-6E8A-4147-A177-3AD203B41FA5}">
                      <a16:colId xmlns:a16="http://schemas.microsoft.com/office/drawing/2014/main" val="783189583"/>
                    </a:ext>
                  </a:extLst>
                </a:gridCol>
              </a:tblGrid>
              <a:tr h="389030">
                <a:tc>
                  <a:txBody>
                    <a:bodyPr/>
                    <a:lstStyle/>
                    <a:p>
                      <a:r>
                        <a:rPr lang="en-US" sz="1200" dirty="0"/>
                        <a:t>tourism_reason | </a:t>
                      </a:r>
                      <a:r>
                        <a:rPr lang="en-US" sz="1200" dirty="0" err="1"/>
                        <a:t>tourism_activity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880062"/>
                  </a:ext>
                </a:extLst>
              </a:tr>
              <a:tr h="315546">
                <a:tc>
                  <a:txBody>
                    <a:bodyPr/>
                    <a:lstStyle/>
                    <a:p>
                      <a:r>
                        <a:rPr lang="en-AU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248897"/>
                  </a:ext>
                </a:extLst>
              </a:tr>
              <a:tr h="315546">
                <a:tc>
                  <a:txBody>
                    <a:bodyPr/>
                    <a:lstStyle/>
                    <a:p>
                      <a:r>
                        <a:rPr lang="en-AU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3486"/>
                  </a:ext>
                </a:extLst>
              </a:tr>
              <a:tr h="315546">
                <a:tc>
                  <a:txBody>
                    <a:bodyPr/>
                    <a:lstStyle/>
                    <a:p>
                      <a:r>
                        <a:rPr lang="en-AU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sa2_code_tra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380776"/>
                  </a:ext>
                </a:extLst>
              </a:tr>
              <a:tr h="315546">
                <a:tc>
                  <a:txBody>
                    <a:bodyPr/>
                    <a:lstStyle/>
                    <a:p>
                      <a:r>
                        <a:rPr lang="en-AU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stop_reason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/activity</a:t>
                      </a:r>
                      <a:endParaRPr lang="en-AU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986480"/>
                  </a:ext>
                </a:extLst>
              </a:tr>
              <a:tr h="315546">
                <a:tc>
                  <a:txBody>
                    <a:bodyPr/>
                    <a:lstStyle/>
                    <a:p>
                      <a:r>
                        <a:rPr lang="en-AU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trips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971796"/>
                  </a:ext>
                </a:extLst>
              </a:tr>
              <a:tr h="315546">
                <a:tc>
                  <a:txBody>
                    <a:bodyPr/>
                    <a:lstStyle/>
                    <a:p>
                      <a:r>
                        <a:rPr lang="en-AU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n_sample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837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743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163</Words>
  <Application>Microsoft Macintosh PowerPoint</Application>
  <PresentationFormat>Widescreen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Javad Vahdat Atashgah</dc:creator>
  <cp:lastModifiedBy>Javad Vahdat Atashgah</cp:lastModifiedBy>
  <cp:revision>1</cp:revision>
  <dcterms:created xsi:type="dcterms:W3CDTF">2026-08-02T12:05:36Z</dcterms:created>
  <dcterms:modified xsi:type="dcterms:W3CDTF">2026-08-02T13:11:31Z</dcterms:modified>
</cp:coreProperties>
</file>